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8;g36bc379c7b1_10_57" descr="Google Shape;8;g36bc379c7b1_10_57"/>
          <p:cNvPicPr>
            <a:picLocks noChangeAspect="1"/>
          </p:cNvPicPr>
          <p:nvPr/>
        </p:nvPicPr>
        <p:blipFill>
          <a:blip r:embed="rId2">
            <a:extLst/>
          </a:blip>
          <a:srcRect l="0" t="388" r="85220" b="387"/>
          <a:stretch>
            <a:fillRect/>
          </a:stretch>
        </p:blipFill>
        <p:spPr>
          <a:xfrm>
            <a:off x="67788" y="52175"/>
            <a:ext cx="1490828" cy="1801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Google Shape;9;g36bc379c7b1_10_57" descr="Google Shape;9;g36bc379c7b1_10_57"/>
          <p:cNvPicPr>
            <a:picLocks noChangeAspect="1"/>
          </p:cNvPicPr>
          <p:nvPr/>
        </p:nvPicPr>
        <p:blipFill>
          <a:blip r:embed="rId3">
            <a:extLst/>
          </a:blip>
          <a:srcRect l="50059" t="0" r="33607" b="0"/>
          <a:stretch>
            <a:fillRect/>
          </a:stretch>
        </p:blipFill>
        <p:spPr>
          <a:xfrm>
            <a:off x="22617501" y="39476"/>
            <a:ext cx="1658037" cy="1826984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itle Text"/>
          <p:cNvSpPr txBox="1"/>
          <p:nvPr>
            <p:ph type="title"/>
          </p:nvPr>
        </p:nvSpPr>
        <p:spPr>
          <a:xfrm>
            <a:off x="1206500" y="1079500"/>
            <a:ext cx="21971101" cy="1433101"/>
          </a:xfrm>
          <a:prstGeom prst="rect">
            <a:avLst/>
          </a:prstGeom>
        </p:spPr>
        <p:txBody>
          <a:bodyPr/>
          <a:lstStyle>
            <a:lvl1pPr defTabSz="914400">
              <a:defRPr spc="0"/>
            </a:lvl1pPr>
          </a:lstStyle>
          <a:p>
            <a:pPr/>
            <a:r>
              <a:t>Title Text</a:t>
            </a:r>
          </a:p>
        </p:txBody>
      </p:sp>
      <p:sp>
        <p:nvSpPr>
          <p:cNvPr id="172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101" cy="934802"/>
          </a:xfrm>
          <a:prstGeom prst="rect">
            <a:avLst/>
          </a:prstGeom>
        </p:spPr>
        <p:txBody>
          <a:bodyPr lIns="45699" tIns="45699" rIns="45699" bIns="45699" numCol="1" spcCol="38100"/>
          <a:lstStyle>
            <a:lvl1pPr marL="0" indent="228600" defTabSz="9144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968240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2pPr>
            <a:lvl3pPr marL="1425440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3pPr>
            <a:lvl4pPr marL="1882639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4pPr>
            <a:lvl5pPr marL="2339839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Google Shape;21;g36bc379c7b1_10_70"/>
          <p:cNvSpPr txBox="1"/>
          <p:nvPr>
            <p:ph type="body" idx="21"/>
          </p:nvPr>
        </p:nvSpPr>
        <p:spPr>
          <a:xfrm>
            <a:off x="1206498" y="4248503"/>
            <a:ext cx="21971104" cy="8256001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12001448" y="13086200"/>
            <a:ext cx="368504" cy="374600"/>
          </a:xfrm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Body Level One…"/>
          <p:cNvSpPr txBox="1"/>
          <p:nvPr>
            <p:ph type="body" sz="quarter" idx="1"/>
          </p:nvPr>
        </p:nvSpPr>
        <p:spPr>
          <a:xfrm>
            <a:off x="1201340" y="11859862"/>
            <a:ext cx="21971101" cy="636902"/>
          </a:xfrm>
          <a:prstGeom prst="rect">
            <a:avLst/>
          </a:prstGeom>
        </p:spPr>
        <p:txBody>
          <a:bodyPr lIns="45699" tIns="45699" rIns="45699" bIns="45699" numCol="1" spcCol="38100"/>
          <a:lstStyle>
            <a:lvl1pPr marL="0" indent="228600" defTabSz="9144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822101" indent="-276890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2pPr>
            <a:lvl3pPr marL="12793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3pPr>
            <a:lvl4pPr marL="17365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4pPr>
            <a:lvl5pPr marL="21937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Title Text"/>
          <p:cNvSpPr txBox="1"/>
          <p:nvPr>
            <p:ph type="title"/>
          </p:nvPr>
        </p:nvSpPr>
        <p:spPr>
          <a:xfrm>
            <a:off x="1206496" y="2574991"/>
            <a:ext cx="21971101" cy="4648202"/>
          </a:xfrm>
          <a:prstGeom prst="rect">
            <a:avLst/>
          </a:prstGeom>
        </p:spPr>
        <p:txBody>
          <a:bodyPr anchor="b"/>
          <a:lstStyle>
            <a:lvl1pPr defTabSz="914400">
              <a:defRPr spc="0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183" name="Google Shape;14;g36bc379c7b1_10_63"/>
          <p:cNvSpPr txBox="1"/>
          <p:nvPr>
            <p:ph type="body" sz="quarter" idx="21"/>
          </p:nvPr>
        </p:nvSpPr>
        <p:spPr>
          <a:xfrm>
            <a:off x="1201340" y="7223190"/>
            <a:ext cx="21971104" cy="1905002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pic>
        <p:nvPicPr>
          <p:cNvPr id="184" name="Google Shape;15;g36bc379c7b1_10_63" descr="Google Shape;15;g36bc379c7b1_10_63"/>
          <p:cNvPicPr>
            <a:picLocks noChangeAspect="1"/>
          </p:cNvPicPr>
          <p:nvPr/>
        </p:nvPicPr>
        <p:blipFill>
          <a:blip r:embed="rId2">
            <a:extLst/>
          </a:blip>
          <a:srcRect l="0" t="388" r="85449" b="9056"/>
          <a:stretch>
            <a:fillRect/>
          </a:stretch>
        </p:blipFill>
        <p:spPr>
          <a:xfrm>
            <a:off x="153720" y="-43901"/>
            <a:ext cx="1996585" cy="22362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Google Shape;16;g36bc379c7b1_10_63" descr="Google Shape;16;g36bc379c7b1_10_63"/>
          <p:cNvPicPr>
            <a:picLocks noChangeAspect="1"/>
          </p:cNvPicPr>
          <p:nvPr/>
        </p:nvPicPr>
        <p:blipFill>
          <a:blip r:embed="rId2">
            <a:extLst/>
          </a:blip>
          <a:srcRect l="50059" t="0" r="34355" b="9674"/>
          <a:stretch>
            <a:fillRect/>
          </a:stretch>
        </p:blipFill>
        <p:spPr>
          <a:xfrm>
            <a:off x="22190185" y="213869"/>
            <a:ext cx="1649697" cy="1720658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2001448" y="13086200"/>
            <a:ext cx="368504" cy="374600"/>
          </a:xfrm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91;g36bc379c7b1_0_551"/>
          <p:cNvSpPr txBox="1"/>
          <p:nvPr>
            <p:ph type="title"/>
          </p:nvPr>
        </p:nvSpPr>
        <p:spPr>
          <a:xfrm>
            <a:off x="1206447" y="4028787"/>
            <a:ext cx="22220482" cy="2207423"/>
          </a:xfrm>
          <a:prstGeom prst="rect">
            <a:avLst/>
          </a:prstGeom>
          <a:effectLst>
            <a:outerShdw sx="100000" sy="100000" kx="0" ky="0" algn="b" rotWithShape="0" blurRad="63500" dist="19050" dir="5400000">
              <a:srgbClr val="000000">
                <a:alpha val="50000"/>
              </a:srgbClr>
            </a:outerShdw>
          </a:effectLst>
        </p:spPr>
        <p:txBody>
          <a:bodyPr anchor="ctr"/>
          <a:lstStyle/>
          <a:p>
            <a:pPr algn="ctr" defTabSz="649588">
              <a:lnSpc>
                <a:spcPct val="100000"/>
              </a:lnSpc>
              <a:defRPr sz="7296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REGULAR EXPRESSIONS FOR REAL-WORLD</a:t>
            </a:r>
            <a:br/>
            <a:r>
              <a:t>TEXT PROCESSING </a:t>
            </a:r>
          </a:p>
        </p:txBody>
      </p:sp>
      <p:sp>
        <p:nvSpPr>
          <p:cNvPr id="196" name="Google Shape;93;g36bc379c7b1_0_551"/>
          <p:cNvSpPr txBox="1"/>
          <p:nvPr>
            <p:ph type="sldNum" sz="quarter" idx="4294967295"/>
          </p:nvPr>
        </p:nvSpPr>
        <p:spPr>
          <a:xfrm>
            <a:off x="12065099" y="13086199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sp>
        <p:nvSpPr>
          <p:cNvPr id="197" name="Google Shape;95;g36bc379c7b1_0_551"/>
          <p:cNvSpPr txBox="1"/>
          <p:nvPr/>
        </p:nvSpPr>
        <p:spPr>
          <a:xfrm>
            <a:off x="1206496" y="1280070"/>
            <a:ext cx="21971104" cy="25530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1905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algn="ctr" defTabSz="914400">
              <a:lnSpc>
                <a:spcPct val="80000"/>
              </a:lnSpc>
              <a:spcBef>
                <a:spcPts val="0"/>
              </a:spcBef>
              <a:defRPr b="1" sz="5600">
                <a:solidFill>
                  <a:srgbClr val="EB22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SIMATS ENGINEERING</a:t>
            </a:r>
            <a:br/>
            <a:r>
              <a:t>Saveetha Institute of Medical and Technical Sciences</a:t>
            </a:r>
            <a:br/>
            <a:r>
              <a:t>Chennai-602105.</a:t>
            </a:r>
          </a:p>
        </p:txBody>
      </p:sp>
      <p:sp>
        <p:nvSpPr>
          <p:cNvPr id="198" name="Presented By…"/>
          <p:cNvSpPr txBox="1"/>
          <p:nvPr/>
        </p:nvSpPr>
        <p:spPr>
          <a:xfrm>
            <a:off x="12757868" y="7834277"/>
            <a:ext cx="9736185" cy="323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914400">
              <a:lnSpc>
                <a:spcPct val="150000"/>
              </a:lnSpc>
              <a:spcBef>
                <a:spcPts val="1000"/>
              </a:spcBef>
              <a:defRPr b="1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</a:t>
            </a:r>
          </a:p>
          <a:p>
            <a:pPr defTabSz="914400">
              <a:lnSpc>
                <a:spcPct val="150000"/>
              </a:lnSpc>
              <a:spcBef>
                <a:spcPts val="1000"/>
              </a:spcBef>
              <a:defRPr b="1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M.SIVA ANJANEYULU </a:t>
            </a:r>
          </a:p>
          <a:p>
            <a:pPr defTabSz="914400">
              <a:lnSpc>
                <a:spcPct val="150000"/>
              </a:lnSpc>
              <a:spcBef>
                <a:spcPts val="1000"/>
              </a:spcBef>
              <a:defRPr b="1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 NO :192424419</a:t>
            </a:r>
          </a:p>
        </p:txBody>
      </p:sp>
      <p:sp>
        <p:nvSpPr>
          <p:cNvPr id="199" name="Supervisor…"/>
          <p:cNvSpPr txBox="1"/>
          <p:nvPr/>
        </p:nvSpPr>
        <p:spPr>
          <a:xfrm>
            <a:off x="2443239" y="7885077"/>
            <a:ext cx="7298989" cy="308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defRPr b="1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Supervisor</a:t>
            </a:r>
          </a:p>
          <a:p>
            <a:pPr algn="ctr" defTabSz="457200">
              <a:lnSpc>
                <a:spcPct val="150000"/>
              </a:lnSpc>
              <a:spcBef>
                <a:spcPts val="800"/>
              </a:spcBef>
              <a:defRPr b="1" sz="50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DR.T.DEVI,</a:t>
            </a:r>
          </a:p>
          <a:p>
            <a:pPr algn="ctr" defTabSz="914400">
              <a:lnSpc>
                <a:spcPct val="150000"/>
              </a:lnSpc>
              <a:spcBef>
                <a:spcPts val="0"/>
              </a:spcBef>
              <a:defRPr b="1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SIMATS Engineering</a:t>
            </a:r>
          </a:p>
        </p:txBody>
      </p:sp>
      <p:sp>
        <p:nvSpPr>
          <p:cNvPr id="200" name="DSA0302 - Natural Language Processing"/>
          <p:cNvSpPr txBox="1"/>
          <p:nvPr/>
        </p:nvSpPr>
        <p:spPr>
          <a:xfrm>
            <a:off x="7072907" y="6470898"/>
            <a:ext cx="10238186" cy="774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DSA0302 - Natural Language Processing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00;g36bc379c7b1_0_560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            INTRODUCTION</a:t>
            </a:r>
          </a:p>
        </p:txBody>
      </p:sp>
      <p:sp>
        <p:nvSpPr>
          <p:cNvPr id="203" name="Google Shape;101;g36bc379c7b1_0_560"/>
          <p:cNvSpPr txBox="1"/>
          <p:nvPr>
            <p:ph type="body" sz="half" idx="1"/>
          </p:nvPr>
        </p:nvSpPr>
        <p:spPr>
          <a:xfrm>
            <a:off x="1538685" y="3565062"/>
            <a:ext cx="21306630" cy="5597357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457200">
              <a:lnSpc>
                <a:spcPct val="150000"/>
              </a:lnSpc>
              <a:buSzPct val="123000"/>
              <a:buChar char="•"/>
              <a:defRPr b="0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Regular Expressions (Regex) are sequences of characters used to define search patterns. </a:t>
            </a:r>
            <a:endParaRPr sz="4800"/>
          </a:p>
          <a:p>
            <a:pPr marL="609600" indent="-609600" defTabSz="457200">
              <a:lnSpc>
                <a:spcPct val="150000"/>
              </a:lnSpc>
              <a:buSzPct val="123000"/>
              <a:buChar char="•"/>
              <a:defRPr b="0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They help search, match, extract, and replace text efficiently. </a:t>
            </a:r>
            <a:endParaRPr sz="4800"/>
          </a:p>
          <a:p>
            <a:pPr marL="609600" indent="-609600" defTabSz="457200">
              <a:lnSpc>
                <a:spcPct val="150000"/>
              </a:lnSpc>
              <a:buSzPct val="123000"/>
              <a:buChar char="•"/>
              <a:defRPr b="0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Regex is supported by programming languages like Python, Java, JavaScript, and C#. </a:t>
            </a:r>
            <a:endParaRPr sz="4800"/>
          </a:p>
          <a:p>
            <a:pPr marL="609600" indent="-609600" defTabSz="457200">
              <a:lnSpc>
                <a:spcPct val="150000"/>
              </a:lnSpc>
              <a:buSzPct val="123000"/>
              <a:buChar char="•"/>
              <a:defRPr b="0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widely used in text processing and data validation. </a:t>
            </a:r>
            <a:endParaRPr sz="4800"/>
          </a:p>
          <a:p>
            <a:pPr marL="609600" indent="-609600" defTabSz="457200">
              <a:lnSpc>
                <a:spcPct val="150000"/>
              </a:lnSpc>
              <a:buSzPct val="123000"/>
              <a:buChar char="•"/>
              <a:defRPr b="0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Regex reduces manual effort and improves accuracy</a:t>
            </a:r>
          </a:p>
        </p:txBody>
      </p:sp>
      <p:sp>
        <p:nvSpPr>
          <p:cNvPr id="204" name="Google Shape;102;g36bc379c7b1_0_560"/>
          <p:cNvSpPr txBox="1"/>
          <p:nvPr>
            <p:ph type="sldNum" sz="quarter" idx="4294967295"/>
          </p:nvPr>
        </p:nvSpPr>
        <p:spPr>
          <a:xfrm>
            <a:off x="12065099" y="13086199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Placeholder 3"/>
          <p:cNvSpPr txBox="1"/>
          <p:nvPr>
            <p:ph type="body" idx="1"/>
          </p:nvPr>
        </p:nvSpPr>
        <p:spPr>
          <a:xfrm>
            <a:off x="1718562" y="2551809"/>
            <a:ext cx="21971104" cy="958693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validation</a:t>
            </a:r>
            <a:r>
              <a:rPr b="0"/>
              <a:t> is the process of checking whether input data follows a required format. </a:t>
            </a:r>
            <a:endParaRPr b="0" sz="1200"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b="0"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Regular Expressions (Regex) verify data before it is accepted or stored. </a:t>
            </a:r>
            <a:endParaRPr sz="1200"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b="0"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They help prevent invalid, incomplete, or incorrectly formatted input. </a:t>
            </a:r>
            <a:endParaRPr sz="1200"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b="0"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Regex ensures data consistency, accuracy, and reliability.</a:t>
            </a:r>
            <a:endParaRPr sz="1200">
              <a:latin typeface="+mj-lt"/>
              <a:ea typeface="+mj-ea"/>
              <a:cs typeface="+mj-cs"/>
              <a:sym typeface="Helvetica Neue"/>
            </a:endParaRPr>
          </a:p>
          <a:p>
            <a:pPr indent="0" defTabSz="2438337">
              <a:lnSpc>
                <a:spcPct val="72000"/>
              </a:lnSpc>
              <a:spcBef>
                <a:spcPts val="4500"/>
              </a:spcBef>
              <a:defRPr sz="3600"/>
            </a:pPr>
            <a:r>
              <a:t>Common Validation Examples</a:t>
            </a:r>
            <a:endParaRPr b="0" sz="1200"/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/>
            </a:pPr>
            <a:r>
              <a:t>Email Address</a:t>
            </a:r>
            <a:r>
              <a:rPr b="0"/>
              <a:t> – student@example.com </a:t>
            </a:r>
            <a:endParaRPr b="0" sz="1200"/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/>
            </a:pPr>
            <a:r>
              <a:t>Phone Number</a:t>
            </a:r>
            <a:r>
              <a:rPr b="0"/>
              <a:t> – 9876543210 </a:t>
            </a:r>
            <a:endParaRPr b="0" sz="1200"/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/>
            </a:pPr>
            <a:r>
              <a:t>Password Strength</a:t>
            </a:r>
            <a:r>
              <a:rPr b="0"/>
              <a:t> – Minimum length with letters, numbers, and special characters </a:t>
            </a:r>
            <a:endParaRPr b="0" sz="1200"/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/>
            </a:pPr>
            <a:r>
              <a:t>Student ID / Register Number</a:t>
            </a:r>
            <a:r>
              <a:rPr b="0"/>
              <a:t> – Matches the required institutional format </a:t>
            </a:r>
            <a:endParaRPr b="0" sz="1200"/>
          </a:p>
          <a:p>
            <a:pPr marL="609600" indent="-609600" defTabSz="2438337">
              <a:lnSpc>
                <a:spcPct val="72000"/>
              </a:lnSpc>
              <a:spcBef>
                <a:spcPts val="4500"/>
              </a:spcBef>
              <a:buSzPct val="123000"/>
              <a:buChar char="•"/>
              <a:defRPr sz="3300"/>
            </a:pPr>
            <a:r>
              <a:t>Date Format</a:t>
            </a:r>
            <a:r>
              <a:rPr b="0"/>
              <a:t> – DD/MM/YYYY or YYYY-MM-DD</a:t>
            </a:r>
          </a:p>
        </p:txBody>
      </p:sp>
      <p:sp>
        <p:nvSpPr>
          <p:cNvPr id="207" name="Title 7"/>
          <p:cNvSpPr txBox="1"/>
          <p:nvPr>
            <p:ph type="title"/>
          </p:nvPr>
        </p:nvSpPr>
        <p:spPr>
          <a:xfrm>
            <a:off x="-131299" y="915231"/>
            <a:ext cx="23177501" cy="1087478"/>
          </a:xfrm>
          <a:prstGeom prst="rect">
            <a:avLst/>
          </a:prstGeom>
        </p:spPr>
        <p:txBody>
          <a:bodyPr/>
          <a:lstStyle/>
          <a:p>
            <a:pPr defTabSz="795527">
              <a:defRPr sz="52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</a:t>
            </a:r>
            <a:r>
              <a:rPr sz="6960"/>
              <a:t>Data Validation Using Regular Expressions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00;g36bc379c7b1_0_560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>
            <a:lvl1pPr>
              <a:defRPr sz="7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Real-World Applications of Regular Expressions</a:t>
            </a:r>
          </a:p>
        </p:txBody>
      </p:sp>
      <p:sp>
        <p:nvSpPr>
          <p:cNvPr id="210" name="Google Shape;101;g36bc379c7b1_0_560"/>
          <p:cNvSpPr txBox="1"/>
          <p:nvPr>
            <p:ph type="body" idx="1"/>
          </p:nvPr>
        </p:nvSpPr>
        <p:spPr>
          <a:xfrm>
            <a:off x="2584530" y="3133983"/>
            <a:ext cx="20934012" cy="9330833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Resume information extraction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Email and phone number validation 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Password strength verification 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Product search using keywords 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Log file analysis 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cleaning and preprocessing </a:t>
            </a:r>
          </a:p>
          <a:p>
            <a:pPr marL="554736" indent="-554736" algn="just" defTabSz="416051">
              <a:lnSpc>
                <a:spcPct val="150000"/>
              </a:lnSpc>
              <a:buSzPct val="123000"/>
              <a:buChar char="•"/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Web scraping and text mining Form input validation</a:t>
            </a:r>
          </a:p>
        </p:txBody>
      </p:sp>
      <p:sp>
        <p:nvSpPr>
          <p:cNvPr id="211" name="Google Shape;102;g36bc379c7b1_0_560"/>
          <p:cNvSpPr txBox="1"/>
          <p:nvPr>
            <p:ph type="sldNum" sz="quarter" idx="4294967295"/>
          </p:nvPr>
        </p:nvSpPr>
        <p:spPr>
          <a:xfrm>
            <a:off x="12065099" y="13086199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100;g36bc379c7b1_0_560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       Implementation with Examples</a:t>
            </a:r>
          </a:p>
        </p:txBody>
      </p:sp>
      <p:sp>
        <p:nvSpPr>
          <p:cNvPr id="214" name="Google Shape;101;g36bc379c7b1_0_560"/>
          <p:cNvSpPr txBox="1"/>
          <p:nvPr>
            <p:ph type="body" idx="1"/>
          </p:nvPr>
        </p:nvSpPr>
        <p:spPr>
          <a:xfrm>
            <a:off x="2451586" y="2512601"/>
            <a:ext cx="17537198" cy="9030842"/>
          </a:xfrm>
          <a:prstGeom prst="rect">
            <a:avLst/>
          </a:prstGeom>
        </p:spPr>
        <p:txBody>
          <a:bodyPr lIns="50800" tIns="50800" rIns="50800" bIns="50800"/>
          <a:lstStyle/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 re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 = "student123@gmail.com"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pattern = r'^[A-Za-z0-9._%+-]+@[A-Za-z0-9.-]+\.[A-Za-z]{2,}$'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re.match(pattern, email):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print("Valid Email")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else: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print("Invalid Email")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 :</a:t>
            </a:r>
          </a:p>
          <a:p>
            <a:pPr indent="0" defTabSz="361735">
              <a:lnSpc>
                <a:spcPct val="150000"/>
              </a:lnSpc>
              <a:defRPr b="0" sz="4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Valid Email</a:t>
            </a:r>
          </a:p>
        </p:txBody>
      </p:sp>
      <p:sp>
        <p:nvSpPr>
          <p:cNvPr id="215" name="Google Shape;102;g36bc379c7b1_0_560"/>
          <p:cNvSpPr txBox="1"/>
          <p:nvPr>
            <p:ph type="sldNum" sz="quarter" idx="4294967295"/>
          </p:nvPr>
        </p:nvSpPr>
        <p:spPr>
          <a:xfrm>
            <a:off x="12065099" y="13086199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61981" y="5679692"/>
            <a:ext cx="11849996" cy="59982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/>
          <p:nvPr>
            <p:ph type="title"/>
          </p:nvPr>
        </p:nvSpPr>
        <p:spPr>
          <a:xfrm>
            <a:off x="2157475" y="2085339"/>
            <a:ext cx="21971102" cy="1433102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Advantages and Limitations of Regular Expressions</a:t>
            </a:r>
          </a:p>
        </p:txBody>
      </p:sp>
      <p:sp>
        <p:nvSpPr>
          <p:cNvPr id="219" name="Text Placeholder 3"/>
          <p:cNvSpPr txBox="1"/>
          <p:nvPr>
            <p:ph type="body" idx="1"/>
          </p:nvPr>
        </p:nvSpPr>
        <p:spPr>
          <a:xfrm>
            <a:off x="1206498" y="4248503"/>
            <a:ext cx="21971104" cy="8256001"/>
          </a:xfrm>
          <a:prstGeom prst="rect">
            <a:avLst/>
          </a:prstGeom>
        </p:spPr>
        <p:txBody>
          <a:bodyPr lIns="50800" tIns="50800" rIns="50800" bIns="50800"/>
          <a:lstStyle/>
          <a:p>
            <a:pPr indent="0" defTabSz="2438337">
              <a:lnSpc>
                <a:spcPct val="72000"/>
              </a:lnSpc>
              <a:spcBef>
                <a:spcPts val="4500"/>
              </a:spcBef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Advantages:</a:t>
            </a:r>
            <a:endParaRPr b="0"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Fast and efficient for searching and matching text patterns. </a:t>
            </a:r>
            <a:endParaRPr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Simplifies complex text-processing tasks.</a:t>
            </a:r>
            <a:endParaRPr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Validates user input such as emails, phone numbers, and passwords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.</a:t>
            </a:r>
            <a:endParaRPr>
              <a:latin typeface="+mj-lt"/>
              <a:ea typeface="+mj-ea"/>
              <a:cs typeface="+mj-cs"/>
              <a:sym typeface="Helvetica Neue"/>
            </a:endParaRPr>
          </a:p>
          <a:p>
            <a:pPr indent="0" defTabSz="2438337">
              <a:lnSpc>
                <a:spcPct val="80000"/>
              </a:lnSpc>
              <a:spcBef>
                <a:spcPts val="4500"/>
              </a:spcBef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Limitations:</a:t>
            </a:r>
            <a:endParaRPr b="0"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Complex regex patterns can be difficult to read and understand. </a:t>
            </a:r>
            <a:endParaRPr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Debugging long expressions can be challenging. </a:t>
            </a:r>
            <a:endParaRPr>
              <a:latin typeface="+mj-lt"/>
              <a:ea typeface="+mj-ea"/>
              <a:cs typeface="+mj-cs"/>
              <a:sym typeface="Helvetica Neue"/>
            </a:endParaRPr>
          </a:p>
          <a:p>
            <a:pPr marL="609600" indent="-609600" defTabSz="2438337">
              <a:lnSpc>
                <a:spcPct val="80000"/>
              </a:lnSpc>
              <a:spcBef>
                <a:spcPts val="4500"/>
              </a:spcBef>
              <a:buSzPct val="123000"/>
              <a:buChar char="•"/>
              <a:defRPr b="0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Poorly designed regex may reduce performance on large datasets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77;g36bc379c7b1_0_626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/>
          <a:p>
            <a:pPr/>
            <a:r>
              <a:t>Conclusion and Future Scope</a:t>
            </a:r>
          </a:p>
        </p:txBody>
      </p:sp>
      <p:sp>
        <p:nvSpPr>
          <p:cNvPr id="222" name="Google Shape;178;g36bc379c7b1_0_626"/>
          <p:cNvSpPr txBox="1"/>
          <p:nvPr>
            <p:ph type="body" idx="1"/>
          </p:nvPr>
        </p:nvSpPr>
        <p:spPr>
          <a:xfrm>
            <a:off x="2115728" y="3683909"/>
            <a:ext cx="20152543" cy="7522803"/>
          </a:xfrm>
          <a:prstGeom prst="rect">
            <a:avLst/>
          </a:prstGeom>
        </p:spPr>
        <p:txBody>
          <a:bodyPr lIns="50800" tIns="50800" rIns="50800" bIns="50800"/>
          <a:lstStyle/>
          <a:p>
            <a:pPr>
              <a:lnSpc>
                <a:spcPct val="80000"/>
              </a:lnSpc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lnSpc>
                <a:spcPct val="80000"/>
              </a:lnSpc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Regular Expressions are powerful tools for text processing and pattern matching.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They automate validation, extraction, and searching tasks.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Regex improves efficiency, accuracy, and productivity in software applications. </a:t>
            </a:r>
          </a:p>
          <a:p>
            <a:pPr>
              <a:lnSpc>
                <a:spcPct val="80000"/>
              </a:lnSpc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80000"/>
              </a:lnSpc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Scope</a:t>
            </a:r>
          </a:p>
          <a:p>
            <a:pPr>
              <a:lnSpc>
                <a:spcPct val="80000"/>
              </a:lnSpc>
              <a:defRPr sz="4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AI-powered text processing.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Natural Language Processing (NLP).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Big Data analytics.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Advanced cybersecurity applications. </a:t>
            </a:r>
          </a:p>
          <a:p>
            <a:pPr marL="914400" indent="-685800">
              <a:lnSpc>
                <a:spcPct val="80000"/>
              </a:lnSpc>
              <a:buSzPct val="100000"/>
              <a:buFont typeface="Arial"/>
              <a:buChar char="•"/>
              <a:defRPr b="0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Intelligent document processing and automation.</a:t>
            </a:r>
          </a:p>
        </p:txBody>
      </p:sp>
      <p:sp>
        <p:nvSpPr>
          <p:cNvPr id="223" name="Google Shape;179;g36bc379c7b1_0_626"/>
          <p:cNvSpPr txBox="1"/>
          <p:nvPr>
            <p:ph type="sldNum" sz="quarter" idx="4294967295"/>
          </p:nvPr>
        </p:nvSpPr>
        <p:spPr>
          <a:xfrm>
            <a:off x="12064997" y="130861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192;g36bc379c7b1_0_639"/>
          <p:cNvSpPr txBox="1"/>
          <p:nvPr>
            <p:ph type="sldNum" sz="quarter" idx="4294967295"/>
          </p:nvPr>
        </p:nvSpPr>
        <p:spPr>
          <a:xfrm>
            <a:off x="12064997" y="130861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pic>
        <p:nvPicPr>
          <p:cNvPr id="22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00236" y="2472166"/>
            <a:ext cx="12383528" cy="87716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